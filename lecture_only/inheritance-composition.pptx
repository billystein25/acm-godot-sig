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57" r:id="rId7"/>
    <p:sldId id="269" r:id="rId8"/>
    <p:sldId id="270" r:id="rId9"/>
    <p:sldId id="268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06" d="100"/>
          <a:sy n="106" d="100"/>
        </p:scale>
        <p:origin x="132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610CE76-618D-E1A5-DED1-7CE1457C9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3679356" y="1012356"/>
            <a:ext cx="4833288" cy="48332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B5E025-CCFE-847E-1B31-D8E370E34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0056" y="-1"/>
            <a:ext cx="4571638" cy="3087683"/>
          </a:xfrm>
        </p:spPr>
        <p:txBody>
          <a:bodyPr numCol="1"/>
          <a:lstStyle/>
          <a:p>
            <a:pPr algn="r"/>
            <a:r>
              <a:rPr lang="en-US" dirty="0">
                <a:solidFill>
                  <a:srgbClr val="002060"/>
                </a:solidFill>
              </a:rPr>
              <a:t>Association of Computing Machinery</a:t>
            </a:r>
          </a:p>
        </p:txBody>
      </p:sp>
    </p:spTree>
    <p:extLst>
      <p:ext uri="{BB962C8B-B14F-4D97-AF65-F5344CB8AC3E}">
        <p14:creationId xmlns:p14="http://schemas.microsoft.com/office/powerpoint/2010/main" val="2609898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3B218-A5AC-7E93-2325-BF198523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1071167" cy="159350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Inheritance                         Composition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85BD186-EC25-7DD5-37D7-166721D001A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04" y="1986690"/>
            <a:ext cx="4681738" cy="468173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C82545-9592-F957-B1B0-4F289F205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12" y="1986690"/>
            <a:ext cx="4681738" cy="468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926A9DA9-72CB-4AEF-47E2-00AD1AD7B23F}"/>
              </a:ext>
            </a:extLst>
          </p:cNvPr>
          <p:cNvSpPr txBox="1">
            <a:spLocks/>
          </p:cNvSpPr>
          <p:nvPr/>
        </p:nvSpPr>
        <p:spPr>
          <a:xfrm>
            <a:off x="6641770" y="2905307"/>
            <a:ext cx="2511878" cy="3166365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Player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Health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Attack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Input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1467ED81-5002-6EA5-5647-7D2826191E34}"/>
              </a:ext>
            </a:extLst>
          </p:cNvPr>
          <p:cNvSpPr txBox="1">
            <a:spLocks/>
          </p:cNvSpPr>
          <p:nvPr/>
        </p:nvSpPr>
        <p:spPr>
          <a:xfrm>
            <a:off x="9153648" y="2905306"/>
            <a:ext cx="2511879" cy="3166365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Enemy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Health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Attack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43684-099E-4F7E-986B-42694920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Inheritance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186CB944-02F6-B050-94EF-3DF4A05818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Assume we want to implement two Classes. A Player and an Enemy.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Player has health, can attack, and listens to input.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Enemy has health, can attack, has pathfinding, and drops loot when killed.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We can Generalize the Health and Attack attributes to an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EntityBase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3485773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D8CF-4D50-6D5B-1EDC-91363DE3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AB4337-473D-C1C6-0C64-C134D63DD0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0272" y="187986"/>
            <a:ext cx="2264006" cy="18671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dirty="0" err="1"/>
              <a:t>EntityBase</a:t>
            </a:r>
            <a:endParaRPr lang="en-US" sz="32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Health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Attack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826C3AA-9E37-2608-9787-40E7B48E7060}"/>
              </a:ext>
            </a:extLst>
          </p:cNvPr>
          <p:cNvSpPr txBox="1">
            <a:spLocks/>
          </p:cNvSpPr>
          <p:nvPr/>
        </p:nvSpPr>
        <p:spPr>
          <a:xfrm>
            <a:off x="3520397" y="4059252"/>
            <a:ext cx="2511878" cy="2435578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Player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Input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49B211C-FFEE-53CF-CF57-3F1190E7B552}"/>
              </a:ext>
            </a:extLst>
          </p:cNvPr>
          <p:cNvSpPr txBox="1">
            <a:spLocks/>
          </p:cNvSpPr>
          <p:nvPr/>
        </p:nvSpPr>
        <p:spPr>
          <a:xfrm>
            <a:off x="6032275" y="4061710"/>
            <a:ext cx="2511879" cy="2435578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Enemy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FBDDB2F-692E-F4C0-CEF6-71F5BC78567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776336" y="2055137"/>
            <a:ext cx="1255939" cy="20041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D723BF-B5C1-6E49-D842-70A6C6756FD7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032275" y="2055137"/>
            <a:ext cx="1255940" cy="20065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82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34FFC-BA7D-72A3-4478-0BFC4569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5E814B-1879-CFFD-7957-034CFEAFE8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0272" y="187985"/>
            <a:ext cx="2264006" cy="18671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dirty="0" err="1"/>
              <a:t>EntityBase</a:t>
            </a:r>
            <a:endParaRPr lang="en-US" sz="32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Health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Attack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8705ABA-186A-400E-6A8D-902A4DBA91B3}"/>
              </a:ext>
            </a:extLst>
          </p:cNvPr>
          <p:cNvSpPr txBox="1">
            <a:spLocks/>
          </p:cNvSpPr>
          <p:nvPr/>
        </p:nvSpPr>
        <p:spPr>
          <a:xfrm>
            <a:off x="3520397" y="4059252"/>
            <a:ext cx="2511878" cy="2435578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Player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Input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DE7FDB1-E61C-2FB7-B30F-6B80A7A41AC2}"/>
              </a:ext>
            </a:extLst>
          </p:cNvPr>
          <p:cNvSpPr txBox="1">
            <a:spLocks/>
          </p:cNvSpPr>
          <p:nvPr/>
        </p:nvSpPr>
        <p:spPr>
          <a:xfrm>
            <a:off x="6032275" y="4061710"/>
            <a:ext cx="2511879" cy="2435578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Enemy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6A2CB18-EA12-E79B-35CE-7120A776FF2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776336" y="2055136"/>
            <a:ext cx="1255939" cy="2004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F67EA8-BCF0-90A1-B4EF-5A141549833F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032275" y="2055136"/>
            <a:ext cx="1255940" cy="2006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77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44444E-6 L -0.21654 -0.0013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33" y="-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2.59259E-6 L -0.20599 -0.0004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99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A7F4B-245B-8A1B-4723-574C5514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899472-DAE0-443B-475E-5CE5524996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0272" y="187986"/>
            <a:ext cx="2264006" cy="1876204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dirty="0" err="1"/>
              <a:t>EntityBase</a:t>
            </a:r>
            <a:endParaRPr lang="en-US" sz="32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Health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Attack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DA06D4F-68DF-CF87-402C-E1F38AC8F850}"/>
              </a:ext>
            </a:extLst>
          </p:cNvPr>
          <p:cNvSpPr txBox="1">
            <a:spLocks/>
          </p:cNvSpPr>
          <p:nvPr/>
        </p:nvSpPr>
        <p:spPr>
          <a:xfrm>
            <a:off x="881066" y="4059252"/>
            <a:ext cx="2511878" cy="2435578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Player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Input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BFEC2E1-F398-BF19-8070-B2FD47EA5633}"/>
              </a:ext>
            </a:extLst>
          </p:cNvPr>
          <p:cNvSpPr txBox="1">
            <a:spLocks/>
          </p:cNvSpPr>
          <p:nvPr/>
        </p:nvSpPr>
        <p:spPr>
          <a:xfrm>
            <a:off x="3520396" y="4061710"/>
            <a:ext cx="2511879" cy="2435578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Enemy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2F2A0D8D-DD89-053A-49B8-5002402B6403}"/>
              </a:ext>
            </a:extLst>
          </p:cNvPr>
          <p:cNvSpPr txBox="1">
            <a:spLocks/>
          </p:cNvSpPr>
          <p:nvPr/>
        </p:nvSpPr>
        <p:spPr>
          <a:xfrm>
            <a:off x="6159727" y="4059251"/>
            <a:ext cx="2511879" cy="2435578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NPC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- no Attack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4855E2-2A57-36A8-9A02-3EE525D1E12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137005" y="2064190"/>
            <a:ext cx="3895270" cy="19950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0E7683-287A-7440-2C29-92A42C3BA8C7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4776336" y="2064190"/>
            <a:ext cx="1255939" cy="19975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12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97419-0376-AB38-0E0A-184D06B2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17299F-4E50-CDF6-CBB5-4BDE66821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0272" y="187986"/>
            <a:ext cx="2264006" cy="1338889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200" dirty="0" err="1"/>
              <a:t>EntityBase</a:t>
            </a:r>
            <a:endParaRPr lang="en-US" sz="32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Health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EB7BEB4-2483-CFED-069E-6C69218008DA}"/>
              </a:ext>
            </a:extLst>
          </p:cNvPr>
          <p:cNvSpPr txBox="1">
            <a:spLocks/>
          </p:cNvSpPr>
          <p:nvPr/>
        </p:nvSpPr>
        <p:spPr>
          <a:xfrm>
            <a:off x="881066" y="4059252"/>
            <a:ext cx="2511878" cy="2435578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Player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Input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6AC6682-99FE-A363-5CE4-98A8046AD5E6}"/>
              </a:ext>
            </a:extLst>
          </p:cNvPr>
          <p:cNvSpPr txBox="1">
            <a:spLocks/>
          </p:cNvSpPr>
          <p:nvPr/>
        </p:nvSpPr>
        <p:spPr>
          <a:xfrm>
            <a:off x="3520396" y="4061710"/>
            <a:ext cx="2511879" cy="2435578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Enemy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EEAC8CCD-CE50-3AC5-A527-D1CFDCE74FDD}"/>
              </a:ext>
            </a:extLst>
          </p:cNvPr>
          <p:cNvSpPr txBox="1">
            <a:spLocks/>
          </p:cNvSpPr>
          <p:nvPr/>
        </p:nvSpPr>
        <p:spPr>
          <a:xfrm>
            <a:off x="6159727" y="4059251"/>
            <a:ext cx="2511879" cy="2435578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NPC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04BC124B-6ABA-1C52-5112-10D3918FE55B}"/>
              </a:ext>
            </a:extLst>
          </p:cNvPr>
          <p:cNvSpPr txBox="1">
            <a:spLocks/>
          </p:cNvSpPr>
          <p:nvPr/>
        </p:nvSpPr>
        <p:spPr>
          <a:xfrm>
            <a:off x="8799055" y="4059251"/>
            <a:ext cx="2511879" cy="2435578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Crate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16A5512A-3D2A-D150-BC07-A0EFD1206D0C}"/>
              </a:ext>
            </a:extLst>
          </p:cNvPr>
          <p:cNvSpPr txBox="1">
            <a:spLocks/>
          </p:cNvSpPr>
          <p:nvPr/>
        </p:nvSpPr>
        <p:spPr>
          <a:xfrm>
            <a:off x="2388393" y="2248839"/>
            <a:ext cx="2264006" cy="1440337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 err="1"/>
              <a:t>HostileBase</a:t>
            </a:r>
            <a:endParaRPr lang="en-US" sz="32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Attack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C357F-0C0E-53B0-99F8-73ABCD058A85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 flipH="1">
            <a:off x="3520396" y="1526875"/>
            <a:ext cx="2511879" cy="7219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1A8966-9829-4940-7B9E-281FEC17BC90}"/>
              </a:ext>
            </a:extLst>
          </p:cNvPr>
          <p:cNvCxnSpPr>
            <a:stCxn id="2" idx="2"/>
            <a:endCxn id="9" idx="0"/>
          </p:cNvCxnSpPr>
          <p:nvPr/>
        </p:nvCxnSpPr>
        <p:spPr>
          <a:xfrm flipH="1">
            <a:off x="2137005" y="3689176"/>
            <a:ext cx="1383391" cy="370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457FCB-A9E9-DDB5-1022-CD6645DDAB96}"/>
              </a:ext>
            </a:extLst>
          </p:cNvPr>
          <p:cNvCxnSpPr>
            <a:stCxn id="2" idx="2"/>
            <a:endCxn id="10" idx="0"/>
          </p:cNvCxnSpPr>
          <p:nvPr/>
        </p:nvCxnSpPr>
        <p:spPr>
          <a:xfrm>
            <a:off x="3520396" y="3689176"/>
            <a:ext cx="1255940" cy="3725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FFCFA4-4942-CD80-00FF-6B2B054D31DC}"/>
              </a:ext>
            </a:extLst>
          </p:cNvPr>
          <p:cNvCxnSpPr>
            <a:stCxn id="8" idx="2"/>
            <a:endCxn id="18" idx="0"/>
          </p:cNvCxnSpPr>
          <p:nvPr/>
        </p:nvCxnSpPr>
        <p:spPr>
          <a:xfrm>
            <a:off x="6032275" y="1526875"/>
            <a:ext cx="1383392" cy="25323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08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F860D-9960-731C-1EF3-DF4F2996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4AF1A6-34F7-8B36-BB2F-7157262303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71335" y="256997"/>
            <a:ext cx="8445261" cy="1440337"/>
          </a:xfrm>
        </p:spPr>
        <p:txBody>
          <a:bodyPr numCol="2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HealthComponent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AttackComponent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InputComponent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LootComponent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93F8FD7-511D-58C6-B940-399067307A32}"/>
              </a:ext>
            </a:extLst>
          </p:cNvPr>
          <p:cNvSpPr txBox="1">
            <a:spLocks/>
          </p:cNvSpPr>
          <p:nvPr/>
        </p:nvSpPr>
        <p:spPr>
          <a:xfrm>
            <a:off x="23134" y="1994300"/>
            <a:ext cx="3634466" cy="3166365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Player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HealthComponent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AttackComponent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InputComponent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15BF1B9-776F-B10C-B13C-6A81F757AE0F}"/>
              </a:ext>
            </a:extLst>
          </p:cNvPr>
          <p:cNvSpPr txBox="1">
            <a:spLocks/>
          </p:cNvSpPr>
          <p:nvPr/>
        </p:nvSpPr>
        <p:spPr>
          <a:xfrm>
            <a:off x="2340989" y="3680528"/>
            <a:ext cx="4870694" cy="3166365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Enemy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HealthComponent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AttackComponent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PathfindingComponent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F0CF1B39-536E-8A06-57A3-3B6AB43FD12E}"/>
              </a:ext>
            </a:extLst>
          </p:cNvPr>
          <p:cNvSpPr txBox="1">
            <a:spLocks/>
          </p:cNvSpPr>
          <p:nvPr/>
        </p:nvSpPr>
        <p:spPr>
          <a:xfrm>
            <a:off x="5083484" y="1994300"/>
            <a:ext cx="4664366" cy="3166365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NPC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HealthComponent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PathfindingComponent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Loot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62E31485-D3F3-176E-6B1F-73645C986430}"/>
              </a:ext>
            </a:extLst>
          </p:cNvPr>
          <p:cNvSpPr txBox="1">
            <a:spLocks/>
          </p:cNvSpPr>
          <p:nvPr/>
        </p:nvSpPr>
        <p:spPr>
          <a:xfrm>
            <a:off x="8093399" y="3577482"/>
            <a:ext cx="3923198" cy="3166365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3200" dirty="0"/>
              <a:t>Crate</a:t>
            </a:r>
            <a:endParaRPr lang="el-GR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HealthComponent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LootComponent</a:t>
            </a:r>
            <a:endParaRPr lang="en-US" sz="3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4AFF59D-AF19-8642-1077-31F49AB1EF8B}"/>
              </a:ext>
            </a:extLst>
          </p:cNvPr>
          <p:cNvSpPr txBox="1">
            <a:spLocks/>
          </p:cNvSpPr>
          <p:nvPr/>
        </p:nvSpPr>
        <p:spPr>
          <a:xfrm>
            <a:off x="175403" y="256996"/>
            <a:ext cx="8630220" cy="1440337"/>
          </a:xfrm>
          <a:prstGeom prst="rect">
            <a:avLst/>
          </a:prstGeom>
        </p:spPr>
        <p:txBody>
          <a:bodyPr vert="horz" lIns="0" tIns="228600" rIns="0" bIns="0" numCol="2" rtlCol="0">
            <a:no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400" dirty="0"/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35330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/>
      <p:bldP spid="10" grpId="0"/>
      <p:bldP spid="18" grpId="0"/>
      <p:bldP spid="19" grpId="0"/>
    </p:bld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{29EC9BD1-A46C-4203-9760-C73673635D69}TFd3b75063-ff25-434d-b12c-efeaf07d16c3292f62b5_win32-75a75c970d8e</Template>
  <TotalTime>461</TotalTime>
  <Words>139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Custom</vt:lpstr>
      <vt:lpstr>Association of Computing Machinery</vt:lpstr>
      <vt:lpstr>Inheritance                         Composition</vt:lpstr>
      <vt:lpstr>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Billystein</dc:creator>
  <cp:lastModifiedBy>Billystein</cp:lastModifiedBy>
  <cp:revision>8</cp:revision>
  <dcterms:created xsi:type="dcterms:W3CDTF">2025-11-12T10:14:35Z</dcterms:created>
  <dcterms:modified xsi:type="dcterms:W3CDTF">2025-11-12T20:52:58Z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